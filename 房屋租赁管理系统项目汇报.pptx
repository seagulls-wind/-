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8" y="4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大家好，我们是钟洪茂和饶峻铭。今天我们将向大家展示我们开发的房屋租赁管理系统。本次汇报将聚焦于系统的核心功能，通过实际的界面截图，直观地展示管理员和用户两大角色的具体操作流程。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本次汇报将分为四个部分。首先，我们会简单介绍项目的背景和目标。接着，将重点展示管理员端和用户端的核心功能界面。最后，对项目进行总结。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项目概述。我们的目标是打造一个高效、便捷的房屋租售平台。通过这个系统，我们希望将房源信息和交易流程全部线上化，并为不同角色的用户提供专属的功能界面，从而提升整个租售流程的效率和透明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接下来，我们首先进入管理员端，看看管理员是如何对整个平台进行维护和管理的。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管理员的第一项核心功能是维护房屋销售信息。如大家所见，在这个界面上，管理员可以清晰地看到所有待售房源的列表，包括户型、面积、价格等关键信息。通过操作栏的按钮，管理员可以方便地对房源进行增、删、改、查以及审核状态的管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同样地，管理员也负责维护房屋出租信息。这个界面展示了所有待出租的房源，管理员可以在这里进行房源的管理操作，确保出租信息的准确性和时效性。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除了维护房源信息，管理员还需要处理订单。这是销售订单的管理界面，所有用户提交的购房申请都会在这里显示。管理员可以查看订单详情，并根据实际情况进行处理，推动交易流程的进行。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这是出租订单的管理界面。管理员在这里可以看到所有租房申请，并进行处理。通过这两个订单管理界面，管理员能够全面掌控平台上的租售交易情况。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看完了管理员端，现在我们切换到用户的视角，看看普通用户是如何使用我们的系统来查找和预定房源的。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户端的核心功能之一就是浏览房源。这是房屋出租浏览页面，用户可以在这里看到所有可用的出租房源。界面清晰地展示了房源的各项信息，方便用户筛选。当用户看中某个房源时，只需点击“出租预定”即可进入下一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同样地，用户也可以浏览待售房源。这个界面展示了所有在售房屋的信息，用户可以根据价格、户型等条件进行筛选。找到心仪的房子后，点击“预定意向”按钮，就可以向房东表达购房意愿。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提交申请后，用户可以在“我申请的销售”页面查看自己的申请记录。这个页面会显示申请的房源信息和当前的处理状态，方便用户跟踪自己的购房进度。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当购房申请完成后，相关记录会转移到“我的销售交易”页面。这里保存了用户所有已完成的房屋买卖交易记录，方便用户随时回顾。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同样地，“我的出租交易”页面记录了用户所有成功完成的租房订单。通过这两个交易记录页面，用户可以清晰地管理自己的租售历史。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我们的项目进行一个简单的总结。我们的系统在功能上覆盖了租售业务的全流程，界面设计友好，操作便捷。最重要的是，通过对管理员和用户角色的精心设计，我们实现了业务流程的线上闭环，达到了预期的项目目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32.svg"/><Relationship Id="rId4" Type="http://schemas.openxmlformats.org/officeDocument/2006/relationships/image" Target="../media/image8.sv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2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3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40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D4B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-1270000"/>
            <a:ext cx="4445000" cy="444500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房屋租赁管理系统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3937000"/>
            <a:ext cx="1270000" cy="381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444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项目功能展示汇报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715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0" y="58674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汇报人：钟洪茂   |   饶峻铭        日期：2026年06月26日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79500" y="22225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68748">
            <a:off x="1587500" y="29146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2540000" y="2222500"/>
            <a:ext cx="323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540000" y="2921000"/>
            <a:ext cx="323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深入剖析项目启动的核心背景，明确业务发展方向与预期达成的核心目标，为整体规划奠定坚实基础。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350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667500" y="22225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68748">
            <a:off x="7175500" y="29146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128000" y="2222500"/>
            <a:ext cx="323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管理员端功能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2921000"/>
            <a:ext cx="323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涵盖房屋基础信息的全生命周期维护管理，同时实现订单状态追踪、处理与数据统计的一站式管控能力。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318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79500" y="45085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368748">
            <a:off x="1587500" y="52006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2540000" y="4508500"/>
            <a:ext cx="323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用户端功能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540000" y="5207000"/>
            <a:ext cx="323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提供房源智能浏览、在线申请的便捷操作，支持用户随时查询历史交易记录，打造流畅的使用体验。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4318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350000" y="431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667500" y="45085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5368748">
            <a:off x="7175500" y="52006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128000" y="4508500"/>
            <a:ext cx="323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8000" y="5207000"/>
            <a:ext cx="323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全面复盘项目实施过程中的关键成果与经验教训，梳理核心价值产出，展望后续优化迭代的方向。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项目概述：背景与目标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4572000" cy="3556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3556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79500" y="2286000"/>
            <a:ext cx="400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行业痛点与系统初衷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1089">
            <a:off x="1079510" y="304165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79500" y="3302000"/>
            <a:ext cx="4000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随着房地产市场的快速发展，传统房屋租售模式逐渐暴露出效率低下、信息不对称、交易流程不规范等核心问题。为打破信息壁垒、优化交易链路，我们开发了这套集房源展示、交易管理、用户服务于一体的线上综合管理系统，旨在重构行业服务标准，提升供需双方的对接效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42000" y="20320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842000" y="2032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9500" y="22606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2159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信息全域整合，打破孤岛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85000" y="2667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将分散的房屋租售信息归集至统一数字化平台，规范信息展示维度，帮助用户快速检索匹配房源，彻底解决信息零散、筛选困难的行业问题。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842000" y="36195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842000" y="3619500"/>
            <a:ext cx="76200" cy="1333500"/>
          </a:xfrm>
          <a:prstGeom prst="roundRect">
            <a:avLst>
              <a:gd name="adj" fmla="val 0"/>
            </a:avLst>
          </a:prstGeom>
          <a:solidFill>
            <a:srgbClr val="2DD4B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9500" y="38481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3746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全流程线上闭环，高效可控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985000" y="4254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实现房源发布、在线浏览、预约带看、合同签署至交易完结的全链路线上化管理，简化操作步骤，让租售流程更透明、更高效、更可追溯。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842000" y="52070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5842000" y="5207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DD4B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9500" y="54356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5334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多角色权限管控，分工明晰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985000" y="5842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针对管理员、普通用户等不同身份设计精细化功能边界与专属操作界面，确保数据权限安全隔离，同时适配各角色的核心业务操作需求。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D4B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778000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0" b="1" i="0" u="none" strike="noStrike">
                <a:solidFill>
                  <a:srgbClr val="FFFFFF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419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管理员端功能展示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5461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从权限配置到数据监控，以系统化的管理能力筑牢平台根基，确保业务流程规范、数据资产安全可控。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管理员端：房屋销售维护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管理员可在此模块集中维护全量待售房源信息，实现房源数据的全生命周期管理，通过可视化界面高效处理房源的基础信息维护与状态流转，保障房源信息的准确性与时效性。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556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3556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3746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36576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全维房源信息管控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支持对房源户型、面积、价格、配套等核心信息进行新增、编辑与删除操作，精准录入房源详情，形成标准化数据档案。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5080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5080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5270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78000" y="51816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房源状态分级审核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对房源上架、下架、已成交等状态进行审核把控，支持多维度房源检索查询，快速定位目标房源，提升管理效率。</a:t>
            </a:r>
          </a:p>
        </p:txBody>
      </p:sp>
      <p:cxnSp>
        <p:nvCxnSpPr>
          <p:cNvPr id="13" name="Connector 13"/>
          <p:cNvCxnSpPr/>
          <p:nvPr/>
        </p:nvCxnSpPr>
        <p:spPr>
          <a:xfrm rot="5389889">
            <a:off x="4445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985000" y="2032000"/>
            <a:ext cx="4445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985000" y="2032000"/>
            <a:ext cx="4445000" cy="508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175500" y="21844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429500" y="2184400"/>
            <a:ext cx="152400" cy="1524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83500" y="2184400"/>
            <a:ext cx="152400" cy="1524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28000" y="21336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房源管理系统 - 待售列表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12000" y="2794000"/>
            <a:ext cx="4191000" cy="381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175500" y="28575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房源编号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255000" y="28575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户型/面积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779000" y="28575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状态/操作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0417">
            <a:off x="7112010" y="35496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7175500" y="36830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HS2026001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55000" y="3683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三室两厅/128㎡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779000" y="3657600"/>
            <a:ext cx="635000" cy="2794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9779000" y="3683000"/>
            <a:ext cx="63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待审核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10417">
            <a:off x="7112010" y="43116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7175500" y="44450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HS2026002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255000" y="4445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两室一厅/95㎡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779000" y="4419600"/>
            <a:ext cx="635000" cy="2794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9779000" y="4445000"/>
            <a:ext cx="63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已上架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985000" y="5842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界面采用列表式布局，将房源关键信息与操作入口整合，管理员可直观浏览房源全貌，一键完成审核与编辑，降低操作门槛。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管理员端：房屋出租维护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管理员端的房屋出租维护模块，承担着房源全生命周期的管理职责。界面整合了与销售端同源的操作逻辑，支持对所有待出租房源进行系统化、规范化的管控，确保房源信息的准确性与时效性。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556000"/>
            <a:ext cx="2476500" cy="1206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3556000"/>
            <a:ext cx="50800" cy="1206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708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3657600"/>
            <a:ext cx="171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精准房源查询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191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支持多维度筛选条件，快速定位目标待租房源，提升管理检索效率。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19500" y="3556000"/>
            <a:ext cx="2476500" cy="1206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619500" y="3556000"/>
            <a:ext cx="50800" cy="1206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0000" y="37084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254500" y="3657600"/>
            <a:ext cx="171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全维编辑管控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810000" y="4191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覆盖新增、修改、删除核心操作，实时更新房源状态，保障信息同步。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2476500" cy="1206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2000" y="5080000"/>
            <a:ext cx="50800" cy="1206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2324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5181600"/>
            <a:ext cx="171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严格合规审核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5715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对提交的房源信息进行资质核验，确保出租房源符合平台规范与标准。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619500" y="5080000"/>
            <a:ext cx="2476500" cy="1206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3619500" y="5080000"/>
            <a:ext cx="50800" cy="1206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10000" y="52324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254500" y="5181600"/>
            <a:ext cx="171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数据统一管理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810000" y="5715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汇聚全平台待租房源数据，形成统一台账，便于全局监控与分析。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89889">
            <a:off x="4445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985000" y="2032000"/>
            <a:ext cx="4572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985000" y="2032000"/>
            <a:ext cx="4572000" cy="508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7175500" y="2159000"/>
            <a:ext cx="101600" cy="1016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7366000" y="2159000"/>
            <a:ext cx="101600" cy="1016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7556500" y="2159000"/>
            <a:ext cx="101600" cy="1016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8001000" y="21336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房屋出租维护工作台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175500" y="2794000"/>
            <a:ext cx="1270000" cy="1016000"/>
          </a:xfrm>
          <a:prstGeom prst="roundRect">
            <a:avLst>
              <a:gd name="adj" fmla="val 0"/>
            </a:avLst>
          </a:prstGeom>
          <a:solidFill>
            <a:srgbClr val="E5E7EB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636000" y="2794000"/>
            <a:ext cx="1270000" cy="1016000"/>
          </a:xfrm>
          <a:prstGeom prst="roundRect">
            <a:avLst>
              <a:gd name="adj" fmla="val 0"/>
            </a:avLst>
          </a:prstGeom>
          <a:solidFill>
            <a:srgbClr val="E5E7EB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10096500" y="2794000"/>
            <a:ext cx="1270000" cy="1016000"/>
          </a:xfrm>
          <a:prstGeom prst="roundRect">
            <a:avLst>
              <a:gd name="adj" fmla="val 0"/>
            </a:avLst>
          </a:prstGeom>
          <a:solidFill>
            <a:srgbClr val="E5E7EB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7175500" y="4064000"/>
            <a:ext cx="4191000" cy="762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7302500" y="4191000"/>
            <a:ext cx="1016000" cy="508000"/>
          </a:xfrm>
          <a:prstGeom prst="roundRect">
            <a:avLst>
              <a:gd name="adj" fmla="val 0"/>
            </a:avLst>
          </a:prstGeom>
          <a:solidFill>
            <a:srgbClr val="2DD4B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8509000" y="4191000"/>
            <a:ext cx="2032000" cy="508000"/>
          </a:xfrm>
          <a:prstGeom prst="roundRect">
            <a:avLst>
              <a:gd name="adj" fmla="val 0"/>
            </a:avLst>
          </a:prstGeom>
          <a:solidFill>
            <a:srgbClr val="E5E7EB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10731500" y="4191000"/>
            <a:ext cx="508000" cy="508000"/>
          </a:xfrm>
          <a:prstGeom prst="roundRect">
            <a:avLst>
              <a:gd name="adj" fmla="val 0"/>
            </a:avLst>
          </a:prstGeom>
          <a:solidFill>
            <a:srgbClr val="E5E7EB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6985000" y="5461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界面直观展示房源列表与操作入口，管理员可一站式完成从信息录入到审核发布的全流程工作，有效降低管理成本，提升房源流转效率。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管理员端：销售订单维护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管理员端作为订单全生命周期的中枢节点，可集中查看所有用户提交的购房订单信息，实时追踪订单流转进度，并根据业务规则对订单执行“同意受理”或“驳回修改”的核心操作，确保交易流程规范可控。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185">
            <a:off x="762008" y="34226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38100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3810000"/>
            <a:ext cx="50800" cy="1206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000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3962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订单全景可视化管控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78000" y="4381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整合所有渠道的购房申请数据，以列表形式清晰呈现订单编号、用户信息、房源关联及提交时间，实现订单信息的一站式汇聚。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2070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5207000"/>
            <a:ext cx="50800" cy="1206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397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5359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订单状态高效审批处置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78000" y="5778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针对待处理订单，支持快速执行“同意”或“驳回”操作，并可添加处置备注，让用户及时知晓审核结果，推动交易流程闭环。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90177">
            <a:off x="4381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985000" y="1905000"/>
            <a:ext cx="4572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985000" y="1905000"/>
            <a:ext cx="4572000" cy="762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75500" y="2133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683500" y="21336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销售订单管理工作台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239000" y="3048000"/>
            <a:ext cx="4064000" cy="1079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366000" y="3175000"/>
            <a:ext cx="381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订单列表概览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清晰罗列待审核、已受理、已驳回等多状态订单，支持按时间、用户、房源维度筛选检索，快速定位目标订单信息。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239000" y="4445000"/>
            <a:ext cx="4064000" cy="1079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366000" y="4572000"/>
            <a:ext cx="381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订单操作与追踪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提供便捷的操作按钮组，执行审批动作后自动更新订单状态，并生成操作日志，全程可追溯，保障管理流程透明合规。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985000" y="6096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标准化订单审核流程，降低人工管理成本，提升购房交易的处理效率与规范性。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管理员端：出租订单维护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管理员端作为平台核心管控枢纽，可统一查看全平台用户提交的租房订单信息，对订单状态进行实时监控与全生命周期的管理操作，保障出租交易流程规范有序。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556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2DD4B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3556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746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36576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全域订单可视与监控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聚合平台所有租房订单数据，按提交时间、房源区域、订单状态等维度分类展示，实时同步用户订单变更，让管理视角无盲区。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953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2DD4B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4953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143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50546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标准化订单审核与处置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支持对租房订单进行审核、通过、驳回、备注等操作，建立标准化的订单处理流程，同时留存完整操作日志，确保每一笔订单处置可追溯。</a:t>
            </a:r>
          </a:p>
        </p:txBody>
      </p:sp>
      <p:cxnSp>
        <p:nvCxnSpPr>
          <p:cNvPr id="13" name="Connector 13"/>
          <p:cNvCxnSpPr/>
          <p:nvPr/>
        </p:nvCxnSpPr>
        <p:spPr>
          <a:xfrm rot="5389257">
            <a:off x="4572000" y="4057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985000" y="2032000"/>
            <a:ext cx="4445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985000" y="2032000"/>
            <a:ext cx="4445000" cy="762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39000" y="2222500"/>
            <a:ext cx="381000" cy="381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810500" y="2184400"/>
            <a:ext cx="336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出租订单管理工作台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39000" y="3175000"/>
            <a:ext cx="3937000" cy="762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366000" y="3276600"/>
            <a:ext cx="368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订单列表区：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以列表形式呈现订单编号、用户信息、房源地址、提交时间及当前状态，支持快速检索与筛选。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239000" y="4191000"/>
            <a:ext cx="3937000" cy="635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366000" y="4292600"/>
            <a:ext cx="368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操作工具栏：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提供“审核通过”“驳回申请”“查看详情”等快捷操作按钮，简化管理步骤。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985000" y="5334000"/>
            <a:ext cx="444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界面采用直观的工作台布局，将数据展示与操作功能深度整合，管理员无需切换页面即可完成订单的全流程处理，大幅提升管控效率。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D4B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366000" y="1524000"/>
            <a:ext cx="406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0" b="1" i="0" u="none" strike="noStrike">
                <a:solidFill>
                  <a:srgbClr val="FFFFFF">
                    <a:alpha val="1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-1016000" y="4572000"/>
            <a:ext cx="3048000" cy="3048000"/>
          </a:xfrm>
          <a:prstGeom prst="ellipse">
            <a:avLst/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28575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用户端功能展示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4184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651000" y="4699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从用户视角出发，聚焦房源查找、在线预定与行程管理的全流程体验，打造便捷、直观、高效的服务闭环，让每一次居住探索都简单愉悦。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用户端：房屋出租浏览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用户可直观浏览平台全量待出租房源信息，界面整合户型、面积、租金、押金等核心维度，信息层级清晰，助力用户快速筛选匹配需求的房源，同时支持一键发起租房申请。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185">
            <a:off x="762008" y="3168650"/>
            <a:ext cx="533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3556000"/>
            <a:ext cx="1651000" cy="1905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746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4445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信息全景化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涵盖户型、面积、租金、押金等关键数据，房源详情一目了然。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2603500" y="3556000"/>
            <a:ext cx="1651000" cy="1905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4000" y="3746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2730500" y="4445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精准筛选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支持多维度条件组合筛选，快速定位符合预算与需求的优质房源。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445000" y="3556000"/>
            <a:ext cx="1651000" cy="1905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5500" y="3746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572000" y="4445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即刻预定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选中房源后点击“出租预定”，即可一键发起租房申请流程。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8420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通过直观的列表展示与流畅的操作路径，大幅降低用户信息获取成本，提升租房决策效率。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90177">
            <a:off x="4254500" y="4121159"/>
            <a:ext cx="444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731000" y="1905000"/>
            <a:ext cx="469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731000" y="1905000"/>
            <a:ext cx="4699000" cy="635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921500" y="2032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待出租房源列表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95000" y="2032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21500" y="2794000"/>
            <a:ext cx="4318000" cy="1079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048500" y="2921000"/>
            <a:ext cx="762000" cy="825500"/>
          </a:xfrm>
          <a:prstGeom prst="roundRect">
            <a:avLst>
              <a:gd name="adj" fmla="val 0"/>
            </a:avLst>
          </a:prstGeom>
          <a:solidFill>
            <a:srgbClr val="2DD4B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001000" y="28575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阳光两居室 · 近地铁口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面积：85㎡ | 租金：4500元/月 | 押一付三</a:t>
            </a:r>
          </a:p>
        </p:txBody>
      </p:sp>
      <p:sp>
        <p:nvSpPr>
          <p:cNvPr id="23" name="AutoShape 23"/>
          <p:cNvSpPr/>
          <p:nvPr/>
        </p:nvSpPr>
        <p:spPr>
          <a:xfrm>
            <a:off x="10350500" y="2984500"/>
            <a:ext cx="762000" cy="698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0350500" y="3175000"/>
            <a:ext cx="76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预定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921500" y="4191000"/>
            <a:ext cx="4318000" cy="1079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048500" y="4318000"/>
            <a:ext cx="762000" cy="825500"/>
          </a:xfrm>
          <a:prstGeom prst="roundRect">
            <a:avLst>
              <a:gd name="adj" fmla="val 0"/>
            </a:avLst>
          </a:prstGeom>
          <a:solidFill>
            <a:srgbClr val="2DD4B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001000" y="42545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精装一居室 · 拎包入住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面积：50㎡ | 租金：3200元/月 | 押一付一</a:t>
            </a:r>
          </a:p>
        </p:txBody>
      </p:sp>
      <p:sp>
        <p:nvSpPr>
          <p:cNvPr id="28" name="AutoShape 28"/>
          <p:cNvSpPr/>
          <p:nvPr/>
        </p:nvSpPr>
        <p:spPr>
          <a:xfrm>
            <a:off x="10350500" y="4381500"/>
            <a:ext cx="762000" cy="698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10350500" y="4572000"/>
            <a:ext cx="76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预定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731000" y="5715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界面采用极简卡片式布局，房源核心信息前置，操作按钮醒目突出，有效引导用户完成从浏览到预定的转化闭环，提升用户体验。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用户端：房屋销售浏览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用户可一站式浏览全量待售房源信息，直观获取房屋价格、户型格局、配套设施及房东/中介联系方式，通过筛选功能快速定位心仪房源，实现高效的购房信息检索体验。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429000"/>
            <a:ext cx="2603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683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16000" y="4318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多维筛选检索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8260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支持按价格区间、户型面积、地理位置等核心维度精准筛选，快速缩小选房范围，提升浏览效率。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19500" y="3429000"/>
            <a:ext cx="2603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3500" y="3683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873500" y="4318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一键提交意向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873500" y="4826000"/>
            <a:ext cx="2095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找到目标房源后，点击“预定意向”按钮即可生成购房申请，系统自动推送至房源发布方，简化沟通链路。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969000"/>
            <a:ext cx="5461000" cy="508000"/>
          </a:xfrm>
          <a:prstGeom prst="roundRect">
            <a:avLst>
              <a:gd name="adj" fmla="val 0"/>
            </a:avLst>
          </a:prstGeom>
          <a:solidFill>
            <a:srgbClr val="2DD4B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52500" y="60706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核心价值：打通信息壁垒，让购房流程从“被动寻找”转向“主动精准匹配”。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90450">
            <a:off x="4318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858000" y="1778000"/>
            <a:ext cx="457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870700" y="1790700"/>
            <a:ext cx="4546600" cy="4572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997700" y="19177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251700" y="1917700"/>
            <a:ext cx="152400" cy="1524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505700" y="1917700"/>
            <a:ext cx="152400" cy="1524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874000" y="1879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房源浏览 - 待售列表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048500" y="2540000"/>
            <a:ext cx="4191000" cy="825500"/>
          </a:xfrm>
          <a:prstGeom prst="roundRect">
            <a:avLst>
              <a:gd name="adj" fmla="val 0"/>
            </a:avLst>
          </a:prstGeom>
          <a:solidFill>
            <a:srgbClr val="2DD4B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175500" y="2667000"/>
            <a:ext cx="635000" cy="571500"/>
          </a:xfrm>
          <a:prstGeom prst="roundRect">
            <a:avLst>
              <a:gd name="adj" fmla="val 0"/>
            </a:avLst>
          </a:prstGeom>
          <a:solidFill>
            <a:srgbClr val="2DD4B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001000" y="2641600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精装三室两厅 · 核心商圈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面积：120㎡ | 价格：280万 | 楼层：中高层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10477500" y="2705100"/>
            <a:ext cx="635000" cy="4826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0477500" y="2794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查看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048500" y="3810000"/>
            <a:ext cx="4191000" cy="825500"/>
          </a:xfrm>
          <a:prstGeom prst="roundRect">
            <a:avLst>
              <a:gd name="adj" fmla="val 0"/>
            </a:avLst>
          </a:prstGeom>
          <a:solidFill>
            <a:srgbClr val="2DD4B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7175500" y="3937000"/>
            <a:ext cx="635000" cy="571500"/>
          </a:xfrm>
          <a:prstGeom prst="roundRect">
            <a:avLst>
              <a:gd name="adj" fmla="val 0"/>
            </a:avLst>
          </a:prstGeom>
          <a:solidFill>
            <a:srgbClr val="2DD4B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001000" y="3911600"/>
            <a:ext cx="241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景观两居室 · 临近地铁口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面积：85㎡ | 价格：165万 | 楼层：高楼层</a:t>
            </a:r>
          </a:p>
        </p:txBody>
      </p:sp>
      <p:sp>
        <p:nvSpPr>
          <p:cNvPr id="31" name="AutoShape 31"/>
          <p:cNvSpPr/>
          <p:nvPr/>
        </p:nvSpPr>
        <p:spPr>
          <a:xfrm>
            <a:off x="10477500" y="3975100"/>
            <a:ext cx="635000" cy="4826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10477500" y="4064000"/>
            <a:ext cx="63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意向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858000" y="5588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界面以清晰的列表形式呈现房源关键信息，突出“预定意向”操作入口，降低用户操作门槛，同时支持点击卡片进入详情页查看更多房屋细节与实景图片。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用户端：我申请的销售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用户可在该页面集中查看所有提交的购房申请记录，系统实时同步房源审核节点与处理状态，帮助用户清晰掌握每一笔申请的流转进度，提升购房流程的透明度与可控性。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185">
            <a:off x="762008" y="34226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3937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2DD4B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393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1275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14500" y="40386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全量申请记录聚合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整合历史与在途的所有购房申请数据，按时间轴倒序排列，让用户无需切换入口即可快速检索每一笔申请详情。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5207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2DD4B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520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397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14500" y="53086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申请状态实时可视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以色彩区分“待审核、审核中、已通过、已驳回”等状态，配合节点时间戳，让用户直观掌握每一步处理进展。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731000" y="2032000"/>
            <a:ext cx="469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731000" y="2032000"/>
            <a:ext cx="4699000" cy="635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731000" y="2032000"/>
            <a:ext cx="46990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921500" y="215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我的购房申请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921500" y="3048000"/>
            <a:ext cx="4318000" cy="889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921500" y="3048000"/>
            <a:ext cx="50800" cy="889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112000" y="31115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城东新区 · 学府壹号 3栋201室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提交时间：2026-05-10 14:30 | 申请编号：XS20260510001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0033000" y="3238500"/>
            <a:ext cx="10160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033000" y="33401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审核通过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921500" y="4191000"/>
            <a:ext cx="4318000" cy="889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921500" y="4191000"/>
            <a:ext cx="50800" cy="889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112000" y="42545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滨江国际 · 观邸 8栋1504室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提交时间：2026-05-08 09:15 | 申请编号：XS20260508023</a:t>
            </a:r>
          </a:p>
        </p:txBody>
      </p:sp>
      <p:sp>
        <p:nvSpPr>
          <p:cNvPr id="26" name="AutoShape 26"/>
          <p:cNvSpPr/>
          <p:nvPr/>
        </p:nvSpPr>
        <p:spPr>
          <a:xfrm>
            <a:off x="10033000" y="4381500"/>
            <a:ext cx="1016000" cy="508000"/>
          </a:xfrm>
          <a:prstGeom prst="roundRect">
            <a:avLst>
              <a:gd name="adj" fmla="val 0"/>
            </a:avLst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0033000" y="44831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审核中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731000" y="5651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界面采用清晰的列表布局，通过色彩区分申请状态，让用户能快速识别关键信息；同时支持点击单条记录查看详细的房源参数与审核意见，形成完整的信息闭环。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用户端：我的销售交易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购房申请完成后，相关交易数据将自动归档至“我的销售交易”页面。这里汇聚了用户所有已完成的房屋买卖全流程记录，支持按时间、房源类型等维度快速检索，让历史订单的查阅与管理更加直观高效。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0640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318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016000" y="5080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全量记录归档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完整留存签约、过户、放款等全节点信息，交易轨迹可追溯，资产明细清晰呈现。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19500" y="40640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3500" y="4318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873500" y="508000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高效回溯管理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支持多维度筛选与关键字搜索，用户可快速定位目标订单，一键查看详细交易凭证。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88910">
            <a:off x="4635500" y="4121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985000" y="2159000"/>
            <a:ext cx="4445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985000" y="2159000"/>
            <a:ext cx="4445000" cy="508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175500" y="23114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429500" y="2311400"/>
            <a:ext cx="152400" cy="1524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83500" y="2311400"/>
            <a:ext cx="152400" cy="1524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28000" y="22606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我的销售交易 - 订单列表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75500" y="3048000"/>
            <a:ext cx="40640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302500" y="3175000"/>
            <a:ext cx="76200" cy="444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493000" y="3149600"/>
            <a:ext cx="355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阳光水岸花园 3栋2单元1002室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交易状态：已完成 | 成交日期：2026-05-18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175500" y="4064000"/>
            <a:ext cx="40640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302500" y="4191000"/>
            <a:ext cx="76200" cy="444500"/>
          </a:xfrm>
          <a:prstGeom prst="roundRect">
            <a:avLst>
              <a:gd name="adj" fmla="val 0"/>
            </a:avLst>
          </a:prstGeom>
          <a:solidFill>
            <a:srgbClr val="2DD4B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7493000" y="4165600"/>
            <a:ext cx="355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城市天际广场 写字楼A座15层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交易状态：已完成 | 成交日期：2026-04-02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985000" y="5715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界面设计采用极简卡片式布局，清晰展示关键交易信息，同时提供交易详情的快速跳转入口，兼顾视觉美感与操作便捷性。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用户端：我的出租交易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与销售交易模块逻辑互通，“我的出租交易”页面聚焦于用户已完成的房屋租赁订单全生命周期记录，帮助用户系统化梳理租房履约历程，实现租赁资产与交易行为的可视化管理。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556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3556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00" y="3746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36830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完整订单档案留存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自动归档所有成功成交的租赁订单，按时间轴倒序排列，清晰呈现签约时间、租赁周期、租金金额等核心数据，形成可追溯的交易台账。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5080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5080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200" y="5270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78000" y="52070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精细化交易检索与复盘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支持按房源地址、交易状态、时间区间等维度快速筛选，点击订单可展开查看合同详情、支付流水及履约节点，助力用户高效复盘租赁交易。</a:t>
            </a:r>
          </a:p>
        </p:txBody>
      </p:sp>
      <p:cxnSp>
        <p:nvCxnSpPr>
          <p:cNvPr id="13" name="Connector 13"/>
          <p:cNvCxnSpPr/>
          <p:nvPr/>
        </p:nvCxnSpPr>
        <p:spPr>
          <a:xfrm rot="5389889">
            <a:off x="4445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985000" y="2032000"/>
            <a:ext cx="4445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985000" y="2032000"/>
            <a:ext cx="4445000" cy="762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39000" y="2222500"/>
            <a:ext cx="381000" cy="381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810500" y="2184400"/>
            <a:ext cx="3365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出租交易记录中心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39000" y="3175000"/>
            <a:ext cx="3937000" cy="825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239000" y="3175000"/>
            <a:ext cx="50800" cy="825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429500" y="3238500"/>
            <a:ext cx="361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阳光花园三期 · 两室一厅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签约日期：2026/05/10 | 状态：已履约完成 | 租金：¥4500/月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239000" y="4318000"/>
            <a:ext cx="3937000" cy="825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239000" y="4318000"/>
            <a:ext cx="50800" cy="825500"/>
          </a:xfrm>
          <a:prstGeom prst="roundRect">
            <a:avLst>
              <a:gd name="adj" fmla="val 0"/>
            </a:avLst>
          </a:prstGeom>
          <a:solidFill>
            <a:srgbClr val="2DD4B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429500" y="4381500"/>
            <a:ext cx="361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城市广场公寓 · 单间配套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签约日期：2026/03/02 | 状态：已到期退租 | 租金：¥2800/月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985000" y="5715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界面以极简列表呈现交易核心信息，通过状态标签与时间轴串联，让用户能快速定位历史租赁订单，掌握每一笔交易的全流程细节。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762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78200" cy="76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667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667000"/>
            <a:ext cx="2108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功能完整性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769">
            <a:off x="1066815" y="3549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66800" y="3810000"/>
            <a:ext cx="27686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系统完整覆盖了从房源发布、浏览、申请到交易管理的全流程，全方位满足管理员的后台管控需求与用户的租售核心需求，功能模块无缺失、无断层。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2286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94200" y="2286000"/>
            <a:ext cx="3378200" cy="76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9000" y="2667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410200" y="2667000"/>
            <a:ext cx="2108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界面友好性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769">
            <a:off x="4699015" y="3549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99000" y="3810000"/>
            <a:ext cx="27686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界面设计遵循简约直观的原则，操作流程逻辑清晰、步骤精简，降低了用户的学习成本，无论新老用户都能快速上手，获得流畅的操作体验。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26400" y="2286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26400" y="2286000"/>
            <a:ext cx="3378200" cy="76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1200" y="2667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042400" y="2667000"/>
            <a:ext cx="2108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流程闭环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769">
            <a:off x="8331215" y="3549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31200" y="3810000"/>
            <a:ext cx="27686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通过科学的角色权限划分与全链路功能设计，串联起租售业务的各个环节，实现了从信息发布到交易完成的线上闭环管理，提升了业务运转的效率。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969000"/>
            <a:ext cx="10642600" cy="635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6070600"/>
            <a:ext cx="10134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项目核心价值：以用户为中心，以流程为脉络，打造功能完善、体验优质、管理闭环的租售业务系统，达成项目建设的预期目标。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D4B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652000" y="4318000"/>
            <a:ext cx="3810000" cy="381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2540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4184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0" y="4826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欢迎各位提出宝贵的意见与建议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1169</Words>
  <Application>Microsoft Office PowerPoint</Application>
  <PresentationFormat>宽屏</PresentationFormat>
  <Paragraphs>206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2324021569@qq.com</cp:lastModifiedBy>
  <cp:revision>2</cp:revision>
  <dcterms:modified xsi:type="dcterms:W3CDTF">2026-06-25T16:52:51Z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{"Label":"1","ContentProducer":"001191110102MACQD9K64010000","ProduceID":"7655376286719118309","ReservedCode1":"","ContentPropagator":"","PropagateID":"","ReservedCode2":""}</vt:lpwstr>
  </property>
</Properties>
</file>